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471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wscho@cbnu.ac.k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직사각형 84">
            <a:extLst>
              <a:ext uri="{FF2B5EF4-FFF2-40B4-BE49-F238E27FC236}">
                <a16:creationId xmlns:a16="http://schemas.microsoft.com/office/drawing/2014/main" id="{83906989-52D2-4616-B478-000150BDC708}"/>
              </a:ext>
            </a:extLst>
          </p:cNvPr>
          <p:cNvSpPr/>
          <p:nvPr/>
        </p:nvSpPr>
        <p:spPr>
          <a:xfrm>
            <a:off x="0" y="0"/>
            <a:ext cx="12192000" cy="7107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DA2007DB-4420-408E-8CAB-F310531CABD9}"/>
              </a:ext>
            </a:extLst>
          </p:cNvPr>
          <p:cNvGrpSpPr/>
          <p:nvPr/>
        </p:nvGrpSpPr>
        <p:grpSpPr>
          <a:xfrm>
            <a:off x="3843027" y="1444107"/>
            <a:ext cx="1730847" cy="444952"/>
            <a:chOff x="4338416" y="1368183"/>
            <a:chExt cx="1630820" cy="444952"/>
          </a:xfrm>
          <a:solidFill>
            <a:schemeClr val="bg2"/>
          </a:solidFill>
        </p:grpSpPr>
        <p:sp>
          <p:nvSpPr>
            <p:cNvPr id="9" name="Shape 7"/>
            <p:cNvSpPr/>
            <p:nvPr/>
          </p:nvSpPr>
          <p:spPr>
            <a:xfrm>
              <a:off x="4338416" y="1368183"/>
              <a:ext cx="1614042" cy="444952"/>
            </a:xfrm>
            <a:prstGeom prst="roundRect">
              <a:avLst>
                <a:gd name="adj" fmla="val 9091"/>
              </a:avLst>
            </a:prstGeom>
            <a:grpFill/>
            <a:ln w="12700">
              <a:solidFill>
                <a:srgbClr val="F0C08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355194" y="1384961"/>
              <a:ext cx="1614042" cy="41903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Smart Factory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설비 예지보전·품질예측</a:t>
              </a:r>
              <a:endParaRPr lang="en-US" sz="1100" dirty="0"/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0C234C5F-53BA-4F9A-AC1E-65381A793818}"/>
              </a:ext>
            </a:extLst>
          </p:cNvPr>
          <p:cNvGrpSpPr/>
          <p:nvPr/>
        </p:nvGrpSpPr>
        <p:grpSpPr>
          <a:xfrm>
            <a:off x="9505638" y="1441219"/>
            <a:ext cx="1380048" cy="444952"/>
            <a:chOff x="7809392" y="206306"/>
            <a:chExt cx="1300294" cy="444952"/>
          </a:xfrm>
          <a:solidFill>
            <a:schemeClr val="bg2"/>
          </a:solidFill>
        </p:grpSpPr>
        <p:sp>
          <p:nvSpPr>
            <p:cNvPr id="11" name="Shape 9"/>
            <p:cNvSpPr/>
            <p:nvPr/>
          </p:nvSpPr>
          <p:spPr>
            <a:xfrm>
              <a:off x="7809392" y="206306"/>
              <a:ext cx="1300294" cy="444952"/>
            </a:xfrm>
            <a:prstGeom prst="roundRect">
              <a:avLst>
                <a:gd name="adj" fmla="val 9091"/>
              </a:avLst>
            </a:prstGeom>
            <a:grpFill/>
            <a:ln w="12700">
              <a:solidFill>
                <a:srgbClr val="F0C08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7832008" y="230718"/>
              <a:ext cx="1209391" cy="40974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ESG / SDGs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탄소·환경 모니터링</a:t>
              </a:r>
              <a:endParaRPr lang="en-US" sz="1100" dirty="0"/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4308788D-4356-4EFC-BF23-489FF33EB481}"/>
              </a:ext>
            </a:extLst>
          </p:cNvPr>
          <p:cNvGrpSpPr/>
          <p:nvPr/>
        </p:nvGrpSpPr>
        <p:grpSpPr>
          <a:xfrm>
            <a:off x="6922710" y="1444107"/>
            <a:ext cx="1388952" cy="444952"/>
            <a:chOff x="7418098" y="1368183"/>
            <a:chExt cx="1308683" cy="444952"/>
          </a:xfrm>
          <a:solidFill>
            <a:schemeClr val="bg2"/>
          </a:solidFill>
        </p:grpSpPr>
        <p:sp>
          <p:nvSpPr>
            <p:cNvPr id="13" name="Shape 11"/>
            <p:cNvSpPr/>
            <p:nvPr/>
          </p:nvSpPr>
          <p:spPr>
            <a:xfrm>
              <a:off x="7418098" y="1368183"/>
              <a:ext cx="1300294" cy="444952"/>
            </a:xfrm>
            <a:prstGeom prst="roundRect">
              <a:avLst>
                <a:gd name="adj" fmla="val 9091"/>
              </a:avLst>
            </a:prstGeom>
            <a:grpFill/>
            <a:ln w="12700">
              <a:solidFill>
                <a:srgbClr val="F0C08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426487" y="1384961"/>
              <a:ext cx="1300294" cy="412939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Smart Farm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스마트팜 생육예측</a:t>
              </a:r>
              <a:endParaRPr lang="en-US" sz="1100" dirty="0"/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E3EDDE51-C845-4236-9587-E929F664C55F}"/>
              </a:ext>
            </a:extLst>
          </p:cNvPr>
          <p:cNvGrpSpPr/>
          <p:nvPr/>
        </p:nvGrpSpPr>
        <p:grpSpPr>
          <a:xfrm>
            <a:off x="8302112" y="1444107"/>
            <a:ext cx="1223612" cy="444952"/>
            <a:chOff x="8797500" y="1368183"/>
            <a:chExt cx="1152899" cy="444952"/>
          </a:xfrm>
          <a:solidFill>
            <a:schemeClr val="bg2"/>
          </a:solidFill>
        </p:grpSpPr>
        <p:sp>
          <p:nvSpPr>
            <p:cNvPr id="15" name="Shape 13"/>
            <p:cNvSpPr/>
            <p:nvPr/>
          </p:nvSpPr>
          <p:spPr>
            <a:xfrm>
              <a:off x="8797500" y="1368183"/>
              <a:ext cx="1152899" cy="444952"/>
            </a:xfrm>
            <a:prstGeom prst="roundRect">
              <a:avLst>
                <a:gd name="adj" fmla="val 9091"/>
              </a:avLst>
            </a:prstGeom>
            <a:grpFill/>
            <a:ln w="12700">
              <a:solidFill>
                <a:srgbClr val="F0C089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8848127" y="1409029"/>
              <a:ext cx="1068716" cy="378184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Smart Energy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에너지최적화</a:t>
              </a:r>
              <a:endParaRPr lang="en-US" sz="1200" dirty="0"/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69BC36E6-3050-409C-A3D4-F7D205C39116}"/>
              </a:ext>
            </a:extLst>
          </p:cNvPr>
          <p:cNvGrpSpPr/>
          <p:nvPr/>
        </p:nvGrpSpPr>
        <p:grpSpPr>
          <a:xfrm>
            <a:off x="5536177" y="1444107"/>
            <a:ext cx="1368725" cy="444952"/>
            <a:chOff x="10087559" y="1368183"/>
            <a:chExt cx="1229532" cy="444952"/>
          </a:xfrm>
          <a:solidFill>
            <a:schemeClr val="bg2"/>
          </a:solidFill>
        </p:grpSpPr>
        <p:sp>
          <p:nvSpPr>
            <p:cNvPr id="19" name="Shape 17"/>
            <p:cNvSpPr/>
            <p:nvPr/>
          </p:nvSpPr>
          <p:spPr>
            <a:xfrm>
              <a:off x="10087559" y="1368183"/>
              <a:ext cx="1229532" cy="444952"/>
            </a:xfrm>
            <a:prstGeom prst="roundRect">
              <a:avLst>
                <a:gd name="adj" fmla="val 9091"/>
              </a:avLst>
            </a:prstGeom>
            <a:grpFill/>
            <a:ln w="12700">
              <a:solidFill>
                <a:srgbClr val="F0C089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10122080" y="1375473"/>
              <a:ext cx="1159548" cy="40939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Smart Healthcare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ko-KR" altLang="en-US" sz="12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스마트 </a:t>
              </a:r>
              <a:r>
                <a:rPr lang="en-US" sz="120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헬스케어</a:t>
              </a:r>
              <a:endParaRPr lang="en-US" sz="1200" dirty="0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C6C723DE-382B-4CCD-8650-70874C7A93BC}"/>
              </a:ext>
            </a:extLst>
          </p:cNvPr>
          <p:cNvGrpSpPr/>
          <p:nvPr/>
        </p:nvGrpSpPr>
        <p:grpSpPr>
          <a:xfrm>
            <a:off x="3815571" y="1962658"/>
            <a:ext cx="7070115" cy="4340066"/>
            <a:chOff x="274320" y="2015683"/>
            <a:chExt cx="11640312" cy="4403403"/>
          </a:xfrm>
        </p:grpSpPr>
        <p:sp>
          <p:nvSpPr>
            <p:cNvPr id="22" name="Shape 20"/>
            <p:cNvSpPr/>
            <p:nvPr/>
          </p:nvSpPr>
          <p:spPr>
            <a:xfrm>
              <a:off x="274320" y="2015683"/>
              <a:ext cx="11640312" cy="4403403"/>
            </a:xfrm>
            <a:prstGeom prst="roundRect">
              <a:avLst>
                <a:gd name="adj" fmla="val 1563"/>
              </a:avLst>
            </a:prstGeom>
            <a:ln w="28575">
              <a:solidFill>
                <a:srgbClr val="F2994A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365760" y="2139696"/>
              <a:ext cx="11430000" cy="786384"/>
            </a:xfrm>
            <a:prstGeom prst="roundRect">
              <a:avLst>
                <a:gd name="adj" fmla="val 5233"/>
              </a:avLst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512064" y="2340864"/>
              <a:ext cx="384048" cy="384048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512064" y="2340864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⑤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024128" y="2194560"/>
              <a:ext cx="288036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3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AI</a:t>
              </a:r>
              <a:endParaRPr lang="en-US" sz="135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0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Multi-Agent · Planner · Diagnosis/Decision Agent</a:t>
              </a:r>
              <a:endParaRPr lang="en-US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341030" y="2194560"/>
              <a:ext cx="5074921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자율적 </a:t>
              </a:r>
              <a:r>
                <a:rPr lang="en-US" sz="1100" b="1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계획·추론·의사결정·실행을</a:t>
              </a: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b="1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수행하는</a:t>
              </a:r>
              <a:endPara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AI Agent 프레임워크</a:t>
              </a:r>
              <a:endParaRPr lang="en-US" sz="1100" b="1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8981372" y="2368296"/>
              <a:ext cx="2448629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8981372" y="2368296"/>
              <a:ext cx="2448629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8B3F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Agents in Action</a:t>
              </a:r>
              <a:endParaRPr lang="en-US" sz="105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65760" y="2999232"/>
              <a:ext cx="11430000" cy="786384"/>
            </a:xfrm>
            <a:prstGeom prst="roundRect">
              <a:avLst>
                <a:gd name="adj" fmla="val 5233"/>
              </a:avLst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512064" y="3200400"/>
              <a:ext cx="384048" cy="384048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512064" y="3200400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④</a:t>
              </a:r>
              <a:endParaRPr lang="en-US" sz="14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024128" y="3054096"/>
              <a:ext cx="288036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3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Industrial LLM</a:t>
              </a:r>
              <a:endParaRPr lang="en-US" sz="1350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0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GraphRAG · Knowledge Graph · Report Gen</a:t>
              </a:r>
              <a:endParaRPr lang="en-US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4341030" y="3054096"/>
              <a:ext cx="5074921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산업 특화 LLM, 지식 그래프 </a:t>
              </a:r>
              <a:r>
                <a:rPr lang="en-US" sz="1100" b="1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기반의</a:t>
              </a: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b="1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검색·분석·보고</a:t>
              </a:r>
              <a:r>
                <a:rPr lang="en-US" sz="11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b="1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자동화</a:t>
              </a:r>
              <a:endParaRPr lang="en-US" sz="1100" b="1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8981372" y="3227832"/>
              <a:ext cx="2448629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9281160" y="3227832"/>
              <a:ext cx="21488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6C4F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Knowledge to Insight</a:t>
              </a:r>
              <a:endParaRPr lang="en-US" sz="105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365760" y="3858768"/>
              <a:ext cx="11430000" cy="786384"/>
            </a:xfrm>
            <a:prstGeom prst="roundRect">
              <a:avLst>
                <a:gd name="adj" fmla="val 5233"/>
              </a:avLst>
            </a:prstGeom>
            <a:solidFill>
              <a:schemeClr val="accent5"/>
            </a:solidFill>
            <a:ln/>
          </p:spPr>
        </p:sp>
        <p:sp>
          <p:nvSpPr>
            <p:cNvPr id="40" name="Shape 38"/>
            <p:cNvSpPr/>
            <p:nvPr/>
          </p:nvSpPr>
          <p:spPr>
            <a:xfrm>
              <a:off x="512064" y="4059936"/>
              <a:ext cx="384048" cy="384048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41" name="Text 39"/>
            <p:cNvSpPr/>
            <p:nvPr/>
          </p:nvSpPr>
          <p:spPr>
            <a:xfrm>
              <a:off x="512064" y="405993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③</a:t>
              </a:r>
              <a:endParaRPr lang="en-US" sz="14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1024128" y="3913632"/>
              <a:ext cx="288036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350" b="1" dirty="0">
                  <a:solidFill>
                    <a:srgbClr val="FF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Model</a:t>
              </a:r>
              <a:endParaRPr lang="en-US" sz="1350" b="1" dirty="0">
                <a:solidFill>
                  <a:srgbClr val="FFFF00"/>
                </a:solidFill>
              </a:endParaRPr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050" b="1" dirty="0">
                  <a:solidFill>
                    <a:srgbClr val="FF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Machine/Deep Learning </a:t>
              </a:r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050" b="1" dirty="0">
                  <a:solidFill>
                    <a:srgbClr val="FF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Transformer</a:t>
              </a:r>
              <a:endParaRPr lang="en-US" b="1" dirty="0">
                <a:solidFill>
                  <a:srgbClr val="FFFF00"/>
                </a:solidFill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4341030" y="3913632"/>
              <a:ext cx="5074921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b="1" dirty="0">
                  <a:solidFill>
                    <a:srgbClr val="FF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시계열 데이터 예측·이상탐지·최적화를 </a:t>
              </a:r>
              <a:r>
                <a:rPr lang="en-US" sz="1100" b="1" dirty="0" err="1">
                  <a:solidFill>
                    <a:srgbClr val="FF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위한</a:t>
              </a:r>
              <a:r>
                <a:rPr lang="en-US" sz="1100" b="1" dirty="0">
                  <a:solidFill>
                    <a:srgbClr val="FF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b="1" dirty="0">
                  <a:solidFill>
                    <a:srgbClr val="FF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모델 &amp; 알고리즘</a:t>
              </a:r>
              <a:endParaRPr lang="en-US" sz="1100" b="1" dirty="0">
                <a:solidFill>
                  <a:srgbClr val="FFFF00"/>
                </a:solidFill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8981372" y="4087368"/>
              <a:ext cx="2448629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/>
          </p:spPr>
        </p:sp>
        <p:sp>
          <p:nvSpPr>
            <p:cNvPr id="45" name="Text 43"/>
            <p:cNvSpPr/>
            <p:nvPr/>
          </p:nvSpPr>
          <p:spPr>
            <a:xfrm>
              <a:off x="8981372" y="4087368"/>
              <a:ext cx="2448629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3D5F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Forecast to Optimize</a:t>
              </a:r>
              <a:endParaRPr lang="en-US" sz="105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365760" y="4718304"/>
              <a:ext cx="11430000" cy="786384"/>
            </a:xfrm>
            <a:prstGeom prst="roundRect">
              <a:avLst>
                <a:gd name="adj" fmla="val 5233"/>
              </a:avLst>
            </a:prstGeom>
            <a:solidFill>
              <a:srgbClr val="1478A6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512064" y="4919472"/>
              <a:ext cx="384048" cy="384048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48" name="Text 46"/>
            <p:cNvSpPr/>
            <p:nvPr/>
          </p:nvSpPr>
          <p:spPr>
            <a:xfrm>
              <a:off x="512064" y="4919472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②</a:t>
              </a:r>
              <a:endParaRPr lang="en-US" sz="14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1024128" y="4773168"/>
              <a:ext cx="288036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Product</a:t>
              </a:r>
              <a:endParaRPr lang="en-US" sz="1350" b="1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050" b="1" dirty="0">
                  <a:solidFill>
                    <a:srgbClr val="EAF3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Dataset Registry · Feature Store · Data Quality</a:t>
              </a:r>
              <a:endParaRPr lang="en-US" b="1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4341030" y="4773168"/>
              <a:ext cx="5074921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b="1" dirty="0">
                  <a:solidFill>
                    <a:srgbClr val="F5F9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신뢰할 수 있는 데이터 자산 관리 및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ko-KR" altLang="en-US" sz="1100" b="1" dirty="0">
                  <a:solidFill>
                    <a:srgbClr val="F5F9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 </a:t>
              </a:r>
              <a:r>
                <a:rPr lang="en-US" sz="1100" b="1" dirty="0" err="1">
                  <a:solidFill>
                    <a:srgbClr val="F5F9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품질·특성·버전</a:t>
              </a:r>
              <a:r>
                <a:rPr lang="en-US" sz="1100" b="1" dirty="0">
                  <a:solidFill>
                    <a:srgbClr val="F5F9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관리</a:t>
              </a:r>
              <a:endParaRPr lang="en-US" sz="1100" b="1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8981372" y="4946904"/>
              <a:ext cx="2448629" cy="40233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/>
          </p:spPr>
        </p:sp>
        <p:sp>
          <p:nvSpPr>
            <p:cNvPr id="52" name="Text 50"/>
            <p:cNvSpPr/>
            <p:nvPr/>
          </p:nvSpPr>
          <p:spPr>
            <a:xfrm>
              <a:off x="9131265" y="4987006"/>
              <a:ext cx="2148841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478A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Trusted Data Foundation</a:t>
              </a:r>
              <a:endParaRPr lang="en-US" sz="105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365760" y="5577840"/>
              <a:ext cx="11430000" cy="786384"/>
            </a:xfrm>
            <a:prstGeom prst="roundRect">
              <a:avLst>
                <a:gd name="adj" fmla="val 5233"/>
              </a:avLst>
            </a:prstGeom>
            <a:solidFill>
              <a:schemeClr val="accent1">
                <a:lumMod val="75000"/>
              </a:schemeClr>
            </a:solidFill>
            <a:ln/>
          </p:spPr>
        </p:sp>
        <p:sp>
          <p:nvSpPr>
            <p:cNvPr id="54" name="Shape 52"/>
            <p:cNvSpPr/>
            <p:nvPr/>
          </p:nvSpPr>
          <p:spPr>
            <a:xfrm>
              <a:off x="512064" y="5779008"/>
              <a:ext cx="384048" cy="384048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55" name="Text 53"/>
            <p:cNvSpPr/>
            <p:nvPr/>
          </p:nvSpPr>
          <p:spPr>
            <a:xfrm>
              <a:off x="512064" y="577900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①</a:t>
              </a:r>
              <a:endParaRPr lang="en-US" sz="14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024128" y="5632704"/>
              <a:ext cx="288036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350" b="1" dirty="0">
                  <a:solidFill>
                    <a:srgbClr val="FF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Extraction</a:t>
              </a:r>
              <a:endParaRPr lang="en-US" sz="1350" b="1" dirty="0">
                <a:solidFill>
                  <a:srgbClr val="FFFF00"/>
                </a:solidFill>
              </a:endParaRPr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sz="1050" b="1" dirty="0">
                  <a:solidFill>
                    <a:srgbClr val="FF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MQTT · OPC-UA · PLC · SCADA · Kafka …..</a:t>
              </a:r>
              <a:endParaRPr lang="en-US" b="1" dirty="0">
                <a:solidFill>
                  <a:srgbClr val="FFFF00"/>
                </a:solidFill>
              </a:endParaRPr>
            </a:p>
          </p:txBody>
        </p:sp>
        <p:sp>
          <p:nvSpPr>
            <p:cNvPr id="57" name="Text 55"/>
            <p:cNvSpPr/>
            <p:nvPr/>
          </p:nvSpPr>
          <p:spPr>
            <a:xfrm>
              <a:off x="4341030" y="5632704"/>
              <a:ext cx="5074921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b="1" dirty="0">
                  <a:solidFill>
                    <a:srgbClr val="FF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현장 장비·센서·시스템 연결 및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b="1" dirty="0" err="1">
                  <a:solidFill>
                    <a:srgbClr val="FF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100" b="1" dirty="0">
                  <a:solidFill>
                    <a:srgbClr val="FF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b="1" dirty="0" err="1">
                  <a:solidFill>
                    <a:srgbClr val="FFF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수집·전달·메시징</a:t>
              </a:r>
              <a:endParaRPr lang="en-US" sz="1100" b="1" dirty="0">
                <a:solidFill>
                  <a:srgbClr val="FFFF00"/>
                </a:solidFill>
              </a:endParaRPr>
            </a:p>
          </p:txBody>
        </p:sp>
        <p:sp>
          <p:nvSpPr>
            <p:cNvPr id="58" name="Shape 56"/>
            <p:cNvSpPr/>
            <p:nvPr/>
          </p:nvSpPr>
          <p:spPr>
            <a:xfrm>
              <a:off x="8981372" y="5806440"/>
              <a:ext cx="2448629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/>
          </p:spPr>
        </p:sp>
        <p:sp>
          <p:nvSpPr>
            <p:cNvPr id="59" name="Text 57"/>
            <p:cNvSpPr/>
            <p:nvPr/>
          </p:nvSpPr>
          <p:spPr>
            <a:xfrm>
              <a:off x="9213610" y="5806440"/>
              <a:ext cx="2148841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F5C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 Everything</a:t>
              </a:r>
              <a:endParaRPr lang="en-US" sz="1050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80307E3D-3B28-4C7B-8405-83242167A0D1}"/>
              </a:ext>
            </a:extLst>
          </p:cNvPr>
          <p:cNvSpPr txBox="1"/>
          <p:nvPr/>
        </p:nvSpPr>
        <p:spPr>
          <a:xfrm>
            <a:off x="-18534" y="853504"/>
            <a:ext cx="3483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ko-KR" altLang="en-US" sz="1400" b="1" dirty="0"/>
          </a:p>
        </p:txBody>
      </p:sp>
      <p:sp>
        <p:nvSpPr>
          <p:cNvPr id="66" name="Text 4">
            <a:extLst>
              <a:ext uri="{FF2B5EF4-FFF2-40B4-BE49-F238E27FC236}">
                <a16:creationId xmlns:a16="http://schemas.microsoft.com/office/drawing/2014/main" id="{03D81E01-997C-4EBA-ABDC-A24A09F58626}"/>
              </a:ext>
            </a:extLst>
          </p:cNvPr>
          <p:cNvSpPr/>
          <p:nvPr/>
        </p:nvSpPr>
        <p:spPr>
          <a:xfrm>
            <a:off x="4338416" y="81076"/>
            <a:ext cx="4327412" cy="458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AI.BP</a:t>
            </a: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</a:t>
            </a:r>
            <a:r>
              <a:rPr lang="en-U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Bigdatalabs</a:t>
            </a: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Platform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67" name="Text 5">
            <a:extLst>
              <a:ext uri="{FF2B5EF4-FFF2-40B4-BE49-F238E27FC236}">
                <a16:creationId xmlns:a16="http://schemas.microsoft.com/office/drawing/2014/main" id="{17E47C96-5707-4D62-99EC-0B9FFDD928F2}"/>
              </a:ext>
            </a:extLst>
          </p:cNvPr>
          <p:cNvSpPr/>
          <p:nvPr/>
        </p:nvSpPr>
        <p:spPr>
          <a:xfrm>
            <a:off x="1121279" y="866699"/>
            <a:ext cx="97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AI.BP</a:t>
            </a:r>
            <a:r>
              <a:rPr lang="ko-KR" alt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ko-KR" alt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산업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현장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IoT 데이터를 수집하여 AI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기반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예측</a:t>
            </a:r>
            <a:r>
              <a:rPr lang="ko-KR" alt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과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</a:t>
            </a:r>
            <a:r>
              <a:rPr lang="ko-KR" alt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을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지원하는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ko-KR" alt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주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빅데이터랩스의</a:t>
            </a:r>
            <a:r>
              <a:rPr lang="ko-KR" alt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산업용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ko-KR" alt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400" b="1" dirty="0"/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C80F4413-AA06-4910-A15B-F7AD216551FA}"/>
              </a:ext>
            </a:extLst>
          </p:cNvPr>
          <p:cNvSpPr/>
          <p:nvPr/>
        </p:nvSpPr>
        <p:spPr>
          <a:xfrm>
            <a:off x="1187745" y="1673177"/>
            <a:ext cx="1223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AI.BP 핵심 가치</a:t>
            </a:r>
            <a:endParaRPr lang="en-US" sz="1400" dirty="0"/>
          </a:p>
        </p:txBody>
      </p:sp>
      <p:sp>
        <p:nvSpPr>
          <p:cNvPr id="70" name="Shape 23">
            <a:extLst>
              <a:ext uri="{FF2B5EF4-FFF2-40B4-BE49-F238E27FC236}">
                <a16:creationId xmlns:a16="http://schemas.microsoft.com/office/drawing/2014/main" id="{84E99DDE-6336-4A5D-87CA-7379BF453BB9}"/>
              </a:ext>
            </a:extLst>
          </p:cNvPr>
          <p:cNvSpPr/>
          <p:nvPr/>
        </p:nvSpPr>
        <p:spPr>
          <a:xfrm>
            <a:off x="1126563" y="1964209"/>
            <a:ext cx="2549639" cy="841248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rgbClr val="D7E4EC"/>
            </a:solidFill>
            <a:prstDash val="solid"/>
          </a:ln>
        </p:spPr>
      </p:sp>
      <p:sp>
        <p:nvSpPr>
          <p:cNvPr id="71" name="Shape 24">
            <a:extLst>
              <a:ext uri="{FF2B5EF4-FFF2-40B4-BE49-F238E27FC236}">
                <a16:creationId xmlns:a16="http://schemas.microsoft.com/office/drawing/2014/main" id="{0186C87A-C155-408C-B8A5-3F176FE20702}"/>
              </a:ext>
            </a:extLst>
          </p:cNvPr>
          <p:cNvSpPr/>
          <p:nvPr/>
        </p:nvSpPr>
        <p:spPr>
          <a:xfrm>
            <a:off x="1242709" y="2279383"/>
            <a:ext cx="268300" cy="27432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2216FFD7-7ABE-44B2-9CF8-B884C89890E5}"/>
              </a:ext>
            </a:extLst>
          </p:cNvPr>
          <p:cNvSpPr/>
          <p:nvPr/>
        </p:nvSpPr>
        <p:spPr>
          <a:xfrm>
            <a:off x="1361533" y="2013068"/>
            <a:ext cx="2136459" cy="4297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기반 의사결정 가속화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산업 데이터의 실시간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수집·분석으로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정확하고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신속한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의사결정 지원</a:t>
            </a:r>
            <a:endParaRPr lang="en-US" sz="1050" dirty="0"/>
          </a:p>
        </p:txBody>
      </p:sp>
      <p:sp>
        <p:nvSpPr>
          <p:cNvPr id="73" name="Shape 26">
            <a:extLst>
              <a:ext uri="{FF2B5EF4-FFF2-40B4-BE49-F238E27FC236}">
                <a16:creationId xmlns:a16="http://schemas.microsoft.com/office/drawing/2014/main" id="{8C4BE9F5-4201-4D45-A0C1-2BF7051D9FE2}"/>
              </a:ext>
            </a:extLst>
          </p:cNvPr>
          <p:cNvSpPr/>
          <p:nvPr/>
        </p:nvSpPr>
        <p:spPr>
          <a:xfrm>
            <a:off x="1126093" y="2848115"/>
            <a:ext cx="2549638" cy="801689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rgbClr val="D7E4EC"/>
            </a:solidFill>
            <a:prstDash val="solid"/>
          </a:ln>
        </p:spPr>
      </p:sp>
      <p:sp>
        <p:nvSpPr>
          <p:cNvPr id="74" name="Shape 27">
            <a:extLst>
              <a:ext uri="{FF2B5EF4-FFF2-40B4-BE49-F238E27FC236}">
                <a16:creationId xmlns:a16="http://schemas.microsoft.com/office/drawing/2014/main" id="{8281826B-A404-4606-9412-3805C9205AB1}"/>
              </a:ext>
            </a:extLst>
          </p:cNvPr>
          <p:cNvSpPr/>
          <p:nvPr/>
        </p:nvSpPr>
        <p:spPr>
          <a:xfrm>
            <a:off x="1244056" y="3137537"/>
            <a:ext cx="268300" cy="27432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75" name="Text 28">
            <a:extLst>
              <a:ext uri="{FF2B5EF4-FFF2-40B4-BE49-F238E27FC236}">
                <a16:creationId xmlns:a16="http://schemas.microsoft.com/office/drawing/2014/main" id="{9884C4A8-391B-4299-914A-FB2BB15D5A27}"/>
              </a:ext>
            </a:extLst>
          </p:cNvPr>
          <p:cNvSpPr/>
          <p:nvPr/>
        </p:nvSpPr>
        <p:spPr>
          <a:xfrm>
            <a:off x="1368360" y="2902978"/>
            <a:ext cx="2262432" cy="4297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기술 </a:t>
            </a:r>
            <a:r>
              <a:rPr lang="en-US" sz="11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통합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제공</a:t>
            </a:r>
            <a:endParaRPr lang="en-US" sz="11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ML/DL부터 LLM, Agentic AI까지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하나의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플랫폼에서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통합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활용</a:t>
            </a:r>
            <a:endParaRPr lang="en-US" sz="105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6" name="Shape 29">
            <a:extLst>
              <a:ext uri="{FF2B5EF4-FFF2-40B4-BE49-F238E27FC236}">
                <a16:creationId xmlns:a16="http://schemas.microsoft.com/office/drawing/2014/main" id="{5B8985F1-8CEE-4A13-A753-71DE64D4896A}"/>
              </a:ext>
            </a:extLst>
          </p:cNvPr>
          <p:cNvSpPr/>
          <p:nvPr/>
        </p:nvSpPr>
        <p:spPr>
          <a:xfrm>
            <a:off x="1126564" y="3693604"/>
            <a:ext cx="2549638" cy="841248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rgbClr val="D7E4EC"/>
            </a:solidFill>
            <a:prstDash val="solid"/>
          </a:ln>
        </p:spPr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3FC43794-88D9-496C-A7C9-5B87F43C101E}"/>
              </a:ext>
            </a:extLst>
          </p:cNvPr>
          <p:cNvSpPr/>
          <p:nvPr/>
        </p:nvSpPr>
        <p:spPr>
          <a:xfrm>
            <a:off x="1232120" y="3977068"/>
            <a:ext cx="268300" cy="27432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78" name="Text 31">
            <a:extLst>
              <a:ext uri="{FF2B5EF4-FFF2-40B4-BE49-F238E27FC236}">
                <a16:creationId xmlns:a16="http://schemas.microsoft.com/office/drawing/2014/main" id="{85B61011-6141-4C6A-AAFC-226D63731D5A}"/>
              </a:ext>
            </a:extLst>
          </p:cNvPr>
          <p:cNvSpPr/>
          <p:nvPr/>
        </p:nvSpPr>
        <p:spPr>
          <a:xfrm>
            <a:off x="1362701" y="3768955"/>
            <a:ext cx="2045155" cy="4297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산업별 </a:t>
            </a:r>
            <a:r>
              <a:rPr lang="en-US" sz="11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빠른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구축</a:t>
            </a:r>
            <a:endParaRPr lang="en-US" sz="11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표준화된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모듈과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템플릿으로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산업</a:t>
            </a:r>
            <a:r>
              <a:rPr lang="en-US" altLang="ko-KR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r>
              <a:rPr lang="ko-KR" alt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를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신속</a:t>
            </a:r>
            <a:r>
              <a:rPr lang="ko-KR" alt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히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구축</a:t>
            </a:r>
            <a:endParaRPr lang="en-US" sz="1050" dirty="0"/>
          </a:p>
        </p:txBody>
      </p:sp>
      <p:sp>
        <p:nvSpPr>
          <p:cNvPr id="79" name="Shape 32">
            <a:extLst>
              <a:ext uri="{FF2B5EF4-FFF2-40B4-BE49-F238E27FC236}">
                <a16:creationId xmlns:a16="http://schemas.microsoft.com/office/drawing/2014/main" id="{45D0F0A7-91E3-4DD9-94AA-A6C134E8C23A}"/>
              </a:ext>
            </a:extLst>
          </p:cNvPr>
          <p:cNvSpPr/>
          <p:nvPr/>
        </p:nvSpPr>
        <p:spPr>
          <a:xfrm>
            <a:off x="1121278" y="4572649"/>
            <a:ext cx="2549637" cy="841248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rgbClr val="D7E4EC"/>
            </a:solidFill>
            <a:prstDash val="solid"/>
          </a:ln>
        </p:spPr>
      </p:sp>
      <p:sp>
        <p:nvSpPr>
          <p:cNvPr id="80" name="Shape 33">
            <a:extLst>
              <a:ext uri="{FF2B5EF4-FFF2-40B4-BE49-F238E27FC236}">
                <a16:creationId xmlns:a16="http://schemas.microsoft.com/office/drawing/2014/main" id="{45E4285C-B003-4E01-9DBE-379FFED5945F}"/>
              </a:ext>
            </a:extLst>
          </p:cNvPr>
          <p:cNvSpPr/>
          <p:nvPr/>
        </p:nvSpPr>
        <p:spPr>
          <a:xfrm>
            <a:off x="1234369" y="4845399"/>
            <a:ext cx="268300" cy="27432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81" name="Text 34">
            <a:extLst>
              <a:ext uri="{FF2B5EF4-FFF2-40B4-BE49-F238E27FC236}">
                <a16:creationId xmlns:a16="http://schemas.microsoft.com/office/drawing/2014/main" id="{BF33E2D9-8249-416A-B62E-50AC3BA511F1}"/>
              </a:ext>
            </a:extLst>
          </p:cNvPr>
          <p:cNvSpPr/>
          <p:nvPr/>
        </p:nvSpPr>
        <p:spPr>
          <a:xfrm>
            <a:off x="1384576" y="4644806"/>
            <a:ext cx="2069470" cy="4297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안정성 &amp; </a:t>
            </a:r>
            <a:r>
              <a:rPr lang="en-US" sz="11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확장성</a:t>
            </a:r>
            <a:endParaRPr lang="en-US" sz="11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 수준의 보안, 확장성 및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고가용성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보장</a:t>
            </a:r>
            <a:endParaRPr lang="en-US" sz="105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2" name="Shape 35">
            <a:extLst>
              <a:ext uri="{FF2B5EF4-FFF2-40B4-BE49-F238E27FC236}">
                <a16:creationId xmlns:a16="http://schemas.microsoft.com/office/drawing/2014/main" id="{C496763E-C0DC-479D-AF60-80BB9C0BFEC9}"/>
              </a:ext>
            </a:extLst>
          </p:cNvPr>
          <p:cNvSpPr/>
          <p:nvPr/>
        </p:nvSpPr>
        <p:spPr>
          <a:xfrm>
            <a:off x="1126564" y="5446645"/>
            <a:ext cx="2549637" cy="841248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rgbClr val="D7E4EC"/>
            </a:solidFill>
            <a:prstDash val="solid"/>
          </a:ln>
        </p:spPr>
      </p:sp>
      <p:sp>
        <p:nvSpPr>
          <p:cNvPr id="83" name="Shape 36">
            <a:extLst>
              <a:ext uri="{FF2B5EF4-FFF2-40B4-BE49-F238E27FC236}">
                <a16:creationId xmlns:a16="http://schemas.microsoft.com/office/drawing/2014/main" id="{7FE5C708-7758-43CA-A3FA-4F8551C04308}"/>
              </a:ext>
            </a:extLst>
          </p:cNvPr>
          <p:cNvSpPr/>
          <p:nvPr/>
        </p:nvSpPr>
        <p:spPr>
          <a:xfrm>
            <a:off x="1252392" y="5652753"/>
            <a:ext cx="264949" cy="27432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84" name="Text 37">
            <a:extLst>
              <a:ext uri="{FF2B5EF4-FFF2-40B4-BE49-F238E27FC236}">
                <a16:creationId xmlns:a16="http://schemas.microsoft.com/office/drawing/2014/main" id="{6B1F93DC-FEF0-49F0-BDB4-0CD312D60EDA}"/>
              </a:ext>
            </a:extLst>
          </p:cNvPr>
          <p:cNvSpPr/>
          <p:nvPr/>
        </p:nvSpPr>
        <p:spPr>
          <a:xfrm>
            <a:off x="1384866" y="5497482"/>
            <a:ext cx="1942962" cy="4297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비용 </a:t>
            </a:r>
            <a:r>
              <a:rPr lang="en-US" sz="11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효율성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극대화</a:t>
            </a:r>
            <a:endParaRPr lang="en-US" sz="11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재사용 가능한 플랫폼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구조로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운영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비용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절감</a:t>
            </a:r>
            <a:endParaRPr lang="en-US" sz="105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8B69D9D-3CB9-44AE-A221-D0515FB3E07D}"/>
              </a:ext>
            </a:extLst>
          </p:cNvPr>
          <p:cNvSpPr txBox="1"/>
          <p:nvPr/>
        </p:nvSpPr>
        <p:spPr>
          <a:xfrm>
            <a:off x="1461438" y="6584648"/>
            <a:ext cx="31511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wscho@cbnu.ac.kr</a:t>
            </a:r>
            <a:r>
              <a:rPr lang="en-US" altLang="ko-KR" sz="1200" dirty="0"/>
              <a:t>  https://www.bigdatalabs.kr</a:t>
            </a:r>
            <a:endParaRPr lang="ko-KR" altLang="en-US" sz="1200" dirty="0"/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95FB2559-063F-4187-AEB3-95F10E784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5" y="6629999"/>
            <a:ext cx="1305167" cy="178609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34F66A37-22E4-4CB6-9D1E-10A01CD299E2}"/>
              </a:ext>
            </a:extLst>
          </p:cNvPr>
          <p:cNvSpPr txBox="1"/>
          <p:nvPr/>
        </p:nvSpPr>
        <p:spPr>
          <a:xfrm>
            <a:off x="11199568" y="239422"/>
            <a:ext cx="889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2026.07.05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86" name="Text 22">
            <a:extLst>
              <a:ext uri="{FF2B5EF4-FFF2-40B4-BE49-F238E27FC236}">
                <a16:creationId xmlns:a16="http://schemas.microsoft.com/office/drawing/2014/main" id="{7B35AE8F-8C37-4869-AF71-59201C1A6604}"/>
              </a:ext>
            </a:extLst>
          </p:cNvPr>
          <p:cNvSpPr/>
          <p:nvPr/>
        </p:nvSpPr>
        <p:spPr>
          <a:xfrm>
            <a:off x="2536083" y="1451400"/>
            <a:ext cx="13049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AI.BP </a:t>
            </a:r>
            <a:r>
              <a:rPr lang="ko-KR" alt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</a:t>
            </a: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분야</a:t>
            </a:r>
            <a:r>
              <a:rPr lang="en-US" altLang="ko-KR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282</Words>
  <Application>Microsoft Office PowerPoint</Application>
  <PresentationFormat>와이드스크린</PresentationFormat>
  <Paragraphs>62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BAIP - Bigdatalabs AI Platform</dc:title>
  <dc:subject>PptxGenJS Presentation</dc:subject>
  <dc:creator>Bigdatalabs</dc:creator>
  <cp:lastModifiedBy>Wan-Sup Cho</cp:lastModifiedBy>
  <cp:revision>13</cp:revision>
  <dcterms:created xsi:type="dcterms:W3CDTF">2026-07-04T04:24:17Z</dcterms:created>
  <dcterms:modified xsi:type="dcterms:W3CDTF">2026-07-17T05:04:23Z</dcterms:modified>
</cp:coreProperties>
</file>